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61" r:id="rId3"/>
    <p:sldId id="265" r:id="rId4"/>
    <p:sldId id="262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22D"/>
    <a:srgbClr val="006600"/>
    <a:srgbClr val="E0E0E0"/>
    <a:srgbClr val="FFFA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Reports labeled per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Station Operations</c:v>
                </c:pt>
                <c:pt idx="1">
                  <c:v>Speed - Max Authorized</c:v>
                </c:pt>
                <c:pt idx="2">
                  <c:v>Emergency/Penalty Brake</c:v>
                </c:pt>
                <c:pt idx="3">
                  <c:v>Mechanical - Less Severe</c:v>
                </c:pt>
                <c:pt idx="4">
                  <c:v>Signal - On Board Control</c:v>
                </c:pt>
                <c:pt idx="5">
                  <c:v>Speed - Temp Restriction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2541</c:v>
                </c:pt>
                <c:pt idx="1">
                  <c:v>2042</c:v>
                </c:pt>
                <c:pt idx="2">
                  <c:v>1848</c:v>
                </c:pt>
                <c:pt idx="3">
                  <c:v>1657</c:v>
                </c:pt>
                <c:pt idx="4">
                  <c:v>1430</c:v>
                </c:pt>
                <c:pt idx="5">
                  <c:v>1373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55-4517-8CEE-D32420A5ED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39305888"/>
        <c:axId val="539307808"/>
      </c:barChart>
      <c:catAx>
        <c:axId val="5393058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9307808"/>
        <c:crosses val="autoZero"/>
        <c:auto val="1"/>
        <c:lblAlgn val="ctr"/>
        <c:lblOffset val="100"/>
        <c:noMultiLvlLbl val="0"/>
      </c:catAx>
      <c:valAx>
        <c:axId val="539307808"/>
        <c:scaling>
          <c:orientation val="minMax"/>
        </c:scaling>
        <c:delete val="1"/>
        <c:axPos val="b"/>
        <c:numFmt formatCode="#,##0" sourceLinked="1"/>
        <c:majorTickMark val="none"/>
        <c:minorTickMark val="none"/>
        <c:tickLblPos val="nextTo"/>
        <c:crossAx val="539305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Test F1 by Event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Log_Reg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Station Operations</c:v>
                </c:pt>
                <c:pt idx="1">
                  <c:v>Speed: Max Authorized</c:v>
                </c:pt>
                <c:pt idx="2">
                  <c:v>Emerg/Penalty Brake</c:v>
                </c:pt>
                <c:pt idx="3">
                  <c:v>Mechanical, less severe</c:v>
                </c:pt>
                <c:pt idx="4">
                  <c:v>Signal: On-Board Control</c:v>
                </c:pt>
                <c:pt idx="5">
                  <c:v>Speed: Temporary Restriction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0.87874837027379404</c:v>
                </c:pt>
                <c:pt idx="1">
                  <c:v>0.52653346623048003</c:v>
                </c:pt>
                <c:pt idx="2">
                  <c:v>0.48417716349144002</c:v>
                </c:pt>
                <c:pt idx="3">
                  <c:v>0.64143426294820705</c:v>
                </c:pt>
                <c:pt idx="4">
                  <c:v>0.60621761658031004</c:v>
                </c:pt>
                <c:pt idx="5">
                  <c:v>0.52649270968048401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39-4462-ACEE-32E51C701F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RandomForest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Station Operations</c:v>
                </c:pt>
                <c:pt idx="1">
                  <c:v>Speed: Max Authorized</c:v>
                </c:pt>
                <c:pt idx="2">
                  <c:v>Emerg/Penalty Brake</c:v>
                </c:pt>
                <c:pt idx="3">
                  <c:v>Mechanical, less severe</c:v>
                </c:pt>
                <c:pt idx="4">
                  <c:v>Signal: On-Board Control</c:v>
                </c:pt>
                <c:pt idx="5">
                  <c:v>Speed: Temporary Restriction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0.88918918918918899</c:v>
                </c:pt>
                <c:pt idx="1">
                  <c:v>0.57631954350927195</c:v>
                </c:pt>
                <c:pt idx="2">
                  <c:v>0.59272830346504901</c:v>
                </c:pt>
                <c:pt idx="3">
                  <c:v>0.60089686098654704</c:v>
                </c:pt>
                <c:pt idx="4">
                  <c:v>0.63055217875189795</c:v>
                </c:pt>
                <c:pt idx="5">
                  <c:v>0.47671232876712299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39-4462-ACEE-32E51C701F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Station Operations</c:v>
                </c:pt>
                <c:pt idx="1">
                  <c:v>Speed: Max Authorized</c:v>
                </c:pt>
                <c:pt idx="2">
                  <c:v>Emerg/Penalty Brake</c:v>
                </c:pt>
                <c:pt idx="3">
                  <c:v>Mechanical, less severe</c:v>
                </c:pt>
                <c:pt idx="4">
                  <c:v>Signal: On-Board Control</c:v>
                </c:pt>
                <c:pt idx="5">
                  <c:v>Speed: Temporary Restriction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0.88776796973518202</c:v>
                </c:pt>
                <c:pt idx="1">
                  <c:v>0.58424242424242401</c:v>
                </c:pt>
                <c:pt idx="2">
                  <c:v>0.54450261780104703</c:v>
                </c:pt>
                <c:pt idx="3">
                  <c:v>0.62370062370062296</c:v>
                </c:pt>
                <c:pt idx="4">
                  <c:v>0.61016949152542299</c:v>
                </c:pt>
                <c:pt idx="5">
                  <c:v>0.50903614457831303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39-4462-ACEE-32E51C701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89817392"/>
        <c:axId val="1089821232"/>
      </c:barChart>
      <c:catAx>
        <c:axId val="10898173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9821232"/>
        <c:crosses val="autoZero"/>
        <c:auto val="1"/>
        <c:lblAlgn val="ctr"/>
        <c:lblOffset val="100"/>
        <c:noMultiLvlLbl val="0"/>
      </c:catAx>
      <c:valAx>
        <c:axId val="10898212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9817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4755E-EB7B-4AB2-BDE9-4C9426A2E48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64D16-7A0A-46FD-9942-14D106950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31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64D16-7A0A-46FD-9942-14D1069500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75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36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9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97839" y="0"/>
            <a:ext cx="2794161" cy="2618308"/>
          </a:xfrm>
          <a:custGeom>
            <a:avLst/>
            <a:gdLst/>
            <a:ahLst/>
            <a:cxnLst/>
            <a:rect l="l" t="t" r="r" b="b"/>
            <a:pathLst>
              <a:path w="6582417" h="6558481">
                <a:moveTo>
                  <a:pt x="0" y="0"/>
                </a:moveTo>
                <a:lnTo>
                  <a:pt x="6582417" y="0"/>
                </a:lnTo>
                <a:lnTo>
                  <a:pt x="6582417" y="6558481"/>
                </a:lnTo>
                <a:lnTo>
                  <a:pt x="0" y="655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6990" r="-570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" y="0"/>
            <a:ext cx="3925881" cy="3113171"/>
          </a:xfrm>
          <a:custGeom>
            <a:avLst/>
            <a:gdLst/>
            <a:ahLst/>
            <a:cxnLst/>
            <a:rect l="l" t="t" r="r" b="b"/>
            <a:pathLst>
              <a:path w="10005459" h="9641624">
                <a:moveTo>
                  <a:pt x="0" y="0"/>
                </a:moveTo>
                <a:lnTo>
                  <a:pt x="10005458" y="0"/>
                </a:lnTo>
                <a:lnTo>
                  <a:pt x="10005458" y="9641624"/>
                </a:lnTo>
                <a:lnTo>
                  <a:pt x="0" y="9641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9906" t="-1064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4488153">
            <a:off x="-264749" y="-2138111"/>
            <a:ext cx="7669425" cy="10871607"/>
          </a:xfrm>
          <a:custGeom>
            <a:avLst/>
            <a:gdLst/>
            <a:ahLst/>
            <a:cxnLst/>
            <a:rect l="l" t="t" r="r" b="b"/>
            <a:pathLst>
              <a:path w="11504138" h="16307411">
                <a:moveTo>
                  <a:pt x="0" y="0"/>
                </a:moveTo>
                <a:lnTo>
                  <a:pt x="11504137" y="0"/>
                </a:lnTo>
                <a:lnTo>
                  <a:pt x="11504137" y="16307412"/>
                </a:lnTo>
                <a:lnTo>
                  <a:pt x="0" y="163074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435815" y="736878"/>
            <a:ext cx="953568" cy="9479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94536" y="19861"/>
                  </a:moveTo>
                  <a:lnTo>
                    <a:pt x="792939" y="218264"/>
                  </a:lnTo>
                  <a:cubicBezTo>
                    <a:pt x="805656" y="230981"/>
                    <a:pt x="812800" y="248228"/>
                    <a:pt x="812800" y="266213"/>
                  </a:cubicBezTo>
                  <a:lnTo>
                    <a:pt x="812800" y="546587"/>
                  </a:lnTo>
                  <a:cubicBezTo>
                    <a:pt x="812800" y="564572"/>
                    <a:pt x="805656" y="581819"/>
                    <a:pt x="792939" y="594536"/>
                  </a:cubicBezTo>
                  <a:lnTo>
                    <a:pt x="594536" y="792939"/>
                  </a:lnTo>
                  <a:cubicBezTo>
                    <a:pt x="581819" y="805656"/>
                    <a:pt x="564572" y="812800"/>
                    <a:pt x="546587" y="812800"/>
                  </a:cubicBezTo>
                  <a:lnTo>
                    <a:pt x="266213" y="812800"/>
                  </a:lnTo>
                  <a:cubicBezTo>
                    <a:pt x="248228" y="812800"/>
                    <a:pt x="230981" y="805656"/>
                    <a:pt x="218264" y="792939"/>
                  </a:cubicBezTo>
                  <a:lnTo>
                    <a:pt x="19861" y="594536"/>
                  </a:lnTo>
                  <a:cubicBezTo>
                    <a:pt x="7144" y="581819"/>
                    <a:pt x="0" y="564572"/>
                    <a:pt x="0" y="546587"/>
                  </a:cubicBezTo>
                  <a:lnTo>
                    <a:pt x="0" y="266213"/>
                  </a:lnTo>
                  <a:cubicBezTo>
                    <a:pt x="0" y="248228"/>
                    <a:pt x="7144" y="230981"/>
                    <a:pt x="19861" y="218264"/>
                  </a:cubicBezTo>
                  <a:lnTo>
                    <a:pt x="218264" y="19861"/>
                  </a:lnTo>
                  <a:cubicBezTo>
                    <a:pt x="230981" y="7144"/>
                    <a:pt x="248228" y="0"/>
                    <a:pt x="266213" y="0"/>
                  </a:cubicBezTo>
                  <a:lnTo>
                    <a:pt x="546587" y="0"/>
                  </a:lnTo>
                  <a:cubicBezTo>
                    <a:pt x="564572" y="0"/>
                    <a:pt x="581819" y="7144"/>
                    <a:pt x="594536" y="19861"/>
                  </a:cubicBezTo>
                  <a:close/>
                </a:path>
              </a:pathLst>
            </a:custGeom>
            <a:solidFill>
              <a:srgbClr val="D858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4280393" y="2454443"/>
            <a:ext cx="7911608" cy="4403558"/>
          </a:xfrm>
          <a:custGeom>
            <a:avLst/>
            <a:gdLst/>
            <a:ahLst/>
            <a:cxnLst/>
            <a:rect l="l" t="t" r="r" b="b"/>
            <a:pathLst>
              <a:path w="13246768" h="9609928">
                <a:moveTo>
                  <a:pt x="0" y="0"/>
                </a:moveTo>
                <a:lnTo>
                  <a:pt x="13246767" y="0"/>
                </a:lnTo>
                <a:lnTo>
                  <a:pt x="13246767" y="9609928"/>
                </a:lnTo>
                <a:lnTo>
                  <a:pt x="0" y="9609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1" r="-11624" b="-454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695981" y="367232"/>
            <a:ext cx="3496019" cy="3311636"/>
          </a:xfrm>
          <a:custGeom>
            <a:avLst/>
            <a:gdLst/>
            <a:ahLst/>
            <a:cxnLst/>
            <a:rect l="l" t="t" r="r" b="b"/>
            <a:pathLst>
              <a:path w="5644834" h="4967454">
                <a:moveTo>
                  <a:pt x="0" y="0"/>
                </a:moveTo>
                <a:lnTo>
                  <a:pt x="5644834" y="0"/>
                </a:lnTo>
                <a:lnTo>
                  <a:pt x="5644834" y="4967454"/>
                </a:lnTo>
                <a:lnTo>
                  <a:pt x="0" y="4967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1" r="-76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912599" y="2890613"/>
            <a:ext cx="2093895" cy="0"/>
          </a:xfrm>
          <a:prstGeom prst="line">
            <a:avLst/>
          </a:prstGeom>
          <a:ln w="38100" cap="flat">
            <a:solidFill>
              <a:srgbClr val="1A2D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12600" y="968000"/>
            <a:ext cx="7428868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ct val="100000"/>
              </a:lnSpc>
            </a:pPr>
            <a:r>
              <a:rPr lang="en-US" sz="4000" b="1">
                <a:solidFill>
                  <a:srgbClr val="1E322D"/>
                </a:solidFill>
                <a:latin typeface="Racing Sans One" panose="020B0604020202020204" charset="0"/>
              </a:rPr>
              <a:t>Machine Learning for Human Factors Analysis in Railway Safety Reports</a:t>
            </a:r>
            <a:endParaRPr lang="en-US" sz="4000" b="1">
              <a:solidFill>
                <a:srgbClr val="1E322D"/>
              </a:solidFill>
              <a:latin typeface="Racing Sans One" panose="020B0604020202020204" charset="0"/>
              <a:ea typeface="Racing Sans One"/>
              <a:cs typeface="Racing Sans One"/>
              <a:sym typeface="Racing Sans On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57615" y="3057349"/>
            <a:ext cx="3753715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667"/>
              </a:lnSpc>
            </a:pPr>
            <a:r>
              <a:rPr lang="en-US" sz="2000" b="1" i="1" dirty="0">
                <a:solidFill>
                  <a:srgbClr val="1E322D"/>
                </a:solidFill>
                <a:latin typeface="Nunito Sans Condensed Bold Italics"/>
                <a:ea typeface="Nunito Sans Condensed Bold Italics"/>
                <a:cs typeface="Nunito Sans Condensed Bold Italics"/>
                <a:sym typeface="Nunito Sans Condensed Bold Italics"/>
              </a:rPr>
              <a:t>Classifying 6 event categories in 10,261 NASA C3RS close-call reports from structured fields and report text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3319" y="4546938"/>
            <a:ext cx="3753715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ct val="100000"/>
              </a:lnSpc>
            </a:pPr>
            <a:r>
              <a:rPr lang="en-US" sz="1400" b="1">
                <a:solidFill>
                  <a:srgbClr val="1E322D"/>
                </a:solidFill>
                <a:latin typeface="Nunito Sans Condensed Bold Italics"/>
              </a:rPr>
              <a:t>Team 12</a:t>
            </a:r>
          </a:p>
          <a:p>
            <a:pPr defTabSz="609630">
              <a:lnSpc>
                <a:spcPct val="100000"/>
              </a:lnSpc>
            </a:pPr>
            <a:r>
              <a:rPr lang="en-US" sz="1400" b="1">
                <a:solidFill>
                  <a:srgbClr val="1E322D"/>
                </a:solidFill>
                <a:latin typeface="Nunito Sans Condensed Bold Italics"/>
              </a:rPr>
              <a:t>Samantha Ocana, Andrea Garza, Jesus Ivan Ibarra</a:t>
            </a:r>
          </a:p>
        </p:txBody>
      </p:sp>
      <p:sp>
        <p:nvSpPr>
          <p:cNvPr id="19" name="Freeform 2">
            <a:extLst>
              <a:ext uri="{FF2B5EF4-FFF2-40B4-BE49-F238E27FC236}">
                <a16:creationId xmlns:a16="http://schemas.microsoft.com/office/drawing/2014/main" id="{B85AE708-3439-A8EF-45B2-221269908346}"/>
              </a:ext>
            </a:extLst>
          </p:cNvPr>
          <p:cNvSpPr/>
          <p:nvPr/>
        </p:nvSpPr>
        <p:spPr>
          <a:xfrm rot="10800000">
            <a:off x="0" y="4977824"/>
            <a:ext cx="1909315" cy="1880175"/>
          </a:xfrm>
          <a:custGeom>
            <a:avLst/>
            <a:gdLst/>
            <a:ahLst/>
            <a:cxnLst/>
            <a:rect l="l" t="t" r="r" b="b"/>
            <a:pathLst>
              <a:path w="6582417" h="6558481">
                <a:moveTo>
                  <a:pt x="0" y="0"/>
                </a:moveTo>
                <a:lnTo>
                  <a:pt x="6582417" y="0"/>
                </a:lnTo>
                <a:lnTo>
                  <a:pt x="6582417" y="6558481"/>
                </a:lnTo>
                <a:lnTo>
                  <a:pt x="0" y="655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6990" r="-570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9">
            <a:extLst>
              <a:ext uri="{FF2B5EF4-FFF2-40B4-BE49-F238E27FC236}">
                <a16:creationId xmlns:a16="http://schemas.microsoft.com/office/drawing/2014/main" id="{5EEE67EE-C539-99C9-2739-033FC8C00481}"/>
              </a:ext>
            </a:extLst>
          </p:cNvPr>
          <p:cNvSpPr/>
          <p:nvPr/>
        </p:nvSpPr>
        <p:spPr>
          <a:xfrm rot="5400000" flipV="1">
            <a:off x="-354342" y="4976959"/>
            <a:ext cx="2514634" cy="2012680"/>
          </a:xfrm>
          <a:custGeom>
            <a:avLst/>
            <a:gdLst/>
            <a:ahLst/>
            <a:cxnLst/>
            <a:rect l="l" t="t" r="r" b="b"/>
            <a:pathLst>
              <a:path w="5644834" h="4967454">
                <a:moveTo>
                  <a:pt x="0" y="0"/>
                </a:moveTo>
                <a:lnTo>
                  <a:pt x="5644834" y="0"/>
                </a:lnTo>
                <a:lnTo>
                  <a:pt x="5644834" y="4967454"/>
                </a:lnTo>
                <a:lnTo>
                  <a:pt x="0" y="4967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1" r="-764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C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C48A-DDC3-46F0-F0A1-5BB2AB65F776}"/>
              </a:ext>
            </a:extLst>
          </p:cNvPr>
          <p:cNvSpPr/>
          <p:nvPr/>
        </p:nvSpPr>
        <p:spPr>
          <a:xfrm>
            <a:off x="388220" y="378086"/>
            <a:ext cx="11415562" cy="6101828"/>
          </a:xfrm>
          <a:prstGeom prst="rect">
            <a:avLst/>
          </a:prstGeom>
          <a:solidFill>
            <a:srgbClr val="FFFA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 Sans Condensed Bold Itali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90395" y="3621974"/>
            <a:ext cx="1277928" cy="3236026"/>
          </a:xfrm>
          <a:custGeom>
            <a:avLst/>
            <a:gdLst/>
            <a:ahLst/>
            <a:cxnLst/>
            <a:rect l="l" t="t" r="r" b="b"/>
            <a:pathLst>
              <a:path w="2321767" h="5778152">
                <a:moveTo>
                  <a:pt x="0" y="0"/>
                </a:moveTo>
                <a:lnTo>
                  <a:pt x="2321767" y="0"/>
                </a:lnTo>
                <a:lnTo>
                  <a:pt x="2321767" y="5778152"/>
                </a:lnTo>
                <a:lnTo>
                  <a:pt x="0" y="5778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Nunito Sans Condensed Bold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9314" y="495443"/>
            <a:ext cx="9387598" cy="764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64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E322D"/>
                </a:solidFill>
                <a:latin typeface="Nunito Sans Condensed Bold Italics"/>
                <a:ea typeface="Racing Sans One"/>
                <a:cs typeface="Racing Sans One"/>
                <a:sym typeface="Racing Sans One"/>
              </a:rPr>
              <a:t>What a C3RS close-call report contains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1C6CAC4-0134-4DFB-62EE-7B0C176B28EF}"/>
              </a:ext>
            </a:extLst>
          </p:cNvPr>
          <p:cNvGrpSpPr/>
          <p:nvPr/>
        </p:nvGrpSpPr>
        <p:grpSpPr>
          <a:xfrm>
            <a:off x="1059314" y="1940868"/>
            <a:ext cx="4795386" cy="3896929"/>
            <a:chOff x="1059313" y="1602294"/>
            <a:chExt cx="3987801" cy="389692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EB7A10-5A90-F081-15A6-75C3B41A5E2E}"/>
                </a:ext>
              </a:extLst>
            </p:cNvPr>
            <p:cNvSpPr>
              <a:spLocks/>
            </p:cNvSpPr>
            <p:nvPr/>
          </p:nvSpPr>
          <p:spPr>
            <a:xfrm>
              <a:off x="1059313" y="1602294"/>
              <a:ext cx="3987800" cy="778034"/>
            </a:xfrm>
            <a:prstGeom prst="roundRec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>
                  <a:solidFill>
                    <a:schemeClr val="tx1"/>
                  </a:solidFill>
                  <a:latin typeface="Nunito Sans Condensed Bold Italics"/>
                </a:rPr>
                <a:t>Human factors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tx1"/>
                  </a:solidFill>
                  <a:latin typeface="Nunito Sans Condensed Bold Italics"/>
                </a:rPr>
                <a:t>fatigue, distraction, communication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8BBEBC0-4CDA-2DF7-5C32-ABD233E8CFB3}"/>
                </a:ext>
              </a:extLst>
            </p:cNvPr>
            <p:cNvSpPr/>
            <p:nvPr/>
          </p:nvSpPr>
          <p:spPr>
            <a:xfrm>
              <a:off x="1059314" y="4721189"/>
              <a:ext cx="3987800" cy="778034"/>
            </a:xfrm>
            <a:prstGeom prst="roundRec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Nunito Sans Condensed Bold Italics"/>
                </a:rPr>
                <a:t>Operations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Nunito Sans Condensed Bold Italics"/>
                </a:rPr>
                <a:t>train type, territory, movement type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9A85488-DC52-8F29-8BAE-7B49587D5A41}"/>
                </a:ext>
              </a:extLst>
            </p:cNvPr>
            <p:cNvSpPr/>
            <p:nvPr/>
          </p:nvSpPr>
          <p:spPr>
            <a:xfrm>
              <a:off x="1059314" y="2591127"/>
              <a:ext cx="3987800" cy="778034"/>
            </a:xfrm>
            <a:prstGeom prst="roundRec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Nunito Sans Condensed Bold Italics"/>
                </a:rPr>
                <a:t>Personnel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Nunito Sans Condensed Bold Italics"/>
                </a:rPr>
                <a:t>crew role, experience, qualifications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8920E1A-4DE3-7543-2DAC-5563DEEEC82D}"/>
                </a:ext>
              </a:extLst>
            </p:cNvPr>
            <p:cNvSpPr/>
            <p:nvPr/>
          </p:nvSpPr>
          <p:spPr>
            <a:xfrm>
              <a:off x="1059314" y="3656158"/>
              <a:ext cx="3987800" cy="778034"/>
            </a:xfrm>
            <a:prstGeom prst="roundRec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>
                  <a:solidFill>
                    <a:schemeClr val="tx1"/>
                  </a:solidFill>
                  <a:latin typeface="Nunito Sans Condensed Bold Italics"/>
                </a:rPr>
                <a:t>Environment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tx1"/>
                  </a:solidFill>
                  <a:latin typeface="Nunito Sans Condensed Bold Italics"/>
                </a:rPr>
                <a:t>weather, lighting, time of day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25D645A-0FA9-1F30-CEA6-E2882EF6B578}"/>
              </a:ext>
            </a:extLst>
          </p:cNvPr>
          <p:cNvSpPr txBox="1"/>
          <p:nvPr/>
        </p:nvSpPr>
        <p:spPr>
          <a:xfrm>
            <a:off x="1059314" y="6035236"/>
            <a:ext cx="1023620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50" b="1"/>
              <a:t>10,261 reports </a:t>
            </a:r>
            <a:r>
              <a:rPr lang="en-US" sz="1650"/>
              <a:t>•</a:t>
            </a:r>
            <a:r>
              <a:rPr lang="en-US" sz="1650" b="1"/>
              <a:t> 2,040 columns </a:t>
            </a:r>
            <a:r>
              <a:rPr lang="en-US" sz="1650"/>
              <a:t>•</a:t>
            </a:r>
            <a:r>
              <a:rPr lang="en-US" sz="1650" b="1"/>
              <a:t> Jan 2016 – Jul 2026 </a:t>
            </a:r>
            <a:r>
              <a:rPr lang="en-US" sz="1650"/>
              <a:t>• </a:t>
            </a:r>
            <a:r>
              <a:rPr lang="en-US" sz="1650">
                <a:solidFill>
                  <a:schemeClr val="tx1">
                    <a:lumMod val="65000"/>
                    <a:lumOff val="35000"/>
                  </a:schemeClr>
                </a:solidFill>
              </a:rPr>
              <a:t>IDs and event/outcome codes excluded to avoid leakage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DAF139-2EAC-48C9-2DCF-FC92B9E37BDB}"/>
              </a:ext>
            </a:extLst>
          </p:cNvPr>
          <p:cNvSpPr txBox="1"/>
          <p:nvPr/>
        </p:nvSpPr>
        <p:spPr>
          <a:xfrm>
            <a:off x="1059315" y="1422145"/>
            <a:ext cx="3614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STRUCTURED FIELDS – model inputs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520E0E0-3AA2-F6DE-0D3A-172BB86BC1D0}"/>
              </a:ext>
            </a:extLst>
          </p:cNvPr>
          <p:cNvGrpSpPr/>
          <p:nvPr/>
        </p:nvGrpSpPr>
        <p:grpSpPr>
          <a:xfrm>
            <a:off x="6525793" y="1900536"/>
            <a:ext cx="4902201" cy="3913864"/>
            <a:chOff x="6705598" y="1923933"/>
            <a:chExt cx="4902201" cy="3913864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8B12953-88A3-E8F1-D17D-974E27950854}"/>
                </a:ext>
              </a:extLst>
            </p:cNvPr>
            <p:cNvSpPr>
              <a:spLocks/>
            </p:cNvSpPr>
            <p:nvPr/>
          </p:nvSpPr>
          <p:spPr>
            <a:xfrm>
              <a:off x="6705599" y="1923933"/>
              <a:ext cx="4902200" cy="1174681"/>
            </a:xfrm>
            <a:prstGeom prst="roundRec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>
                  <a:solidFill>
                    <a:schemeClr val="tx1"/>
                  </a:solidFill>
                  <a:latin typeface="Nunito Sans Condensed Bold Italics"/>
                </a:rPr>
                <a:t>Employee narrative</a:t>
              </a:r>
            </a:p>
            <a:p>
              <a:endParaRPr lang="en-US" sz="2000" b="1">
                <a:solidFill>
                  <a:schemeClr val="tx1"/>
                </a:solidFill>
                <a:latin typeface="Nunito Sans Condensed Bold Italics"/>
              </a:endParaRPr>
            </a:p>
            <a:p>
              <a:r>
                <a:rPr lang="en-US">
                  <a:solidFill>
                    <a:schemeClr val="tx1"/>
                  </a:solidFill>
                  <a:latin typeface="Nunito Sans Condensed Bold Italics"/>
                </a:rPr>
                <a:t>Reporter’s own account of what happened</a:t>
              </a:r>
              <a:endParaRPr lang="en-US" sz="1600">
                <a:solidFill>
                  <a:schemeClr val="tx1"/>
                </a:solidFill>
                <a:latin typeface="Nunito Sans Condensed Bold Itali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E887F0F-8EAF-FA10-C352-8E0230DC3844}"/>
                </a:ext>
              </a:extLst>
            </p:cNvPr>
            <p:cNvSpPr>
              <a:spLocks/>
            </p:cNvSpPr>
            <p:nvPr/>
          </p:nvSpPr>
          <p:spPr>
            <a:xfrm>
              <a:off x="6705598" y="4663116"/>
              <a:ext cx="4902201" cy="1174681"/>
            </a:xfrm>
            <a:prstGeom prst="roundRec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Nunito Sans Condensed Bold Italics"/>
                </a:rPr>
                <a:t>Callbacks</a:t>
              </a:r>
            </a:p>
            <a:p>
              <a:endParaRPr lang="en-US" sz="2000" b="1" dirty="0">
                <a:solidFill>
                  <a:schemeClr val="tx1"/>
                </a:solidFill>
                <a:latin typeface="Nunito Sans Condensed Bold Italics"/>
              </a:endParaRPr>
            </a:p>
            <a:p>
              <a:r>
                <a:rPr lang="en-US" dirty="0">
                  <a:solidFill>
                    <a:schemeClr val="tx1"/>
                  </a:solidFill>
                  <a:latin typeface="Nunito Sans Condensed Bold Italics"/>
                </a:rPr>
                <a:t>Analyst follow-up interview notes </a:t>
              </a:r>
              <a:r>
                <a:rPr lang="en-US" dirty="0">
                  <a:solidFill>
                    <a:schemeClr val="tx1"/>
                  </a:solidFill>
                </a:rPr>
                <a:t>• 4,698 reports</a:t>
              </a:r>
              <a:r>
                <a:rPr lang="en-US" dirty="0">
                  <a:solidFill>
                    <a:schemeClr val="tx1"/>
                  </a:solidFill>
                  <a:latin typeface="Nunito Sans Condensed Bold Italics"/>
                </a:rPr>
                <a:t> </a:t>
              </a:r>
              <a:endParaRPr lang="en-US" sz="1600" dirty="0">
                <a:solidFill>
                  <a:schemeClr val="tx1"/>
                </a:solidFill>
                <a:latin typeface="Nunito Sans Condensed Bold Italics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0503B64-6BF7-CFFC-7304-98270C793C49}"/>
                </a:ext>
              </a:extLst>
            </p:cNvPr>
            <p:cNvSpPr>
              <a:spLocks/>
            </p:cNvSpPr>
            <p:nvPr/>
          </p:nvSpPr>
          <p:spPr>
            <a:xfrm>
              <a:off x="6705599" y="3290996"/>
              <a:ext cx="4902200" cy="1174681"/>
            </a:xfrm>
            <a:prstGeom prst="roundRect">
              <a:avLst/>
            </a:pr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>
                  <a:solidFill>
                    <a:schemeClr val="tx1"/>
                  </a:solidFill>
                  <a:latin typeface="Nunito Sans Condensed Bold Italics"/>
                </a:rPr>
                <a:t>Synopsis</a:t>
              </a:r>
            </a:p>
            <a:p>
              <a:endParaRPr lang="en-US" sz="2000" b="1">
                <a:solidFill>
                  <a:schemeClr val="tx1"/>
                </a:solidFill>
                <a:latin typeface="Nunito Sans Condensed Bold Italics"/>
              </a:endParaRPr>
            </a:p>
            <a:p>
              <a:r>
                <a:rPr lang="en-US">
                  <a:solidFill>
                    <a:schemeClr val="tx1"/>
                  </a:solidFill>
                  <a:latin typeface="Nunito Sans Condensed Bold Italics"/>
                </a:rPr>
                <a:t>Short analyst-written summary</a:t>
              </a:r>
              <a:endParaRPr lang="en-US" sz="1600">
                <a:solidFill>
                  <a:schemeClr val="tx1"/>
                </a:solidFill>
                <a:latin typeface="Nunito Sans Condensed Bold Italics"/>
              </a:endParaRP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80E7FCA-B4FB-D561-14BB-6C0C78C5F4E6}"/>
              </a:ext>
            </a:extLst>
          </p:cNvPr>
          <p:cNvSpPr/>
          <p:nvPr/>
        </p:nvSpPr>
        <p:spPr>
          <a:xfrm>
            <a:off x="9550400" y="2011427"/>
            <a:ext cx="1742003" cy="424443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Main focus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ED597E5-E52B-ADAD-A275-1567A34F8CCA}"/>
              </a:ext>
            </a:extLst>
          </p:cNvPr>
          <p:cNvSpPr/>
          <p:nvPr/>
        </p:nvSpPr>
        <p:spPr>
          <a:xfrm>
            <a:off x="9575910" y="3371820"/>
            <a:ext cx="1742003" cy="42444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Upper bound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AF6CD7C-23FE-B610-1A8A-A5744419D149}"/>
              </a:ext>
            </a:extLst>
          </p:cNvPr>
          <p:cNvSpPr/>
          <p:nvPr/>
        </p:nvSpPr>
        <p:spPr>
          <a:xfrm>
            <a:off x="9550400" y="4717952"/>
            <a:ext cx="1742003" cy="42444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Upper bound</a:t>
            </a:r>
          </a:p>
        </p:txBody>
      </p:sp>
      <p:sp>
        <p:nvSpPr>
          <p:cNvPr id="42" name="Freeform 5">
            <a:extLst>
              <a:ext uri="{FF2B5EF4-FFF2-40B4-BE49-F238E27FC236}">
                <a16:creationId xmlns:a16="http://schemas.microsoft.com/office/drawing/2014/main" id="{7638B021-7CEF-7E8C-4D0B-09BC5FBF3EF6}"/>
              </a:ext>
            </a:extLst>
          </p:cNvPr>
          <p:cNvSpPr/>
          <p:nvPr/>
        </p:nvSpPr>
        <p:spPr>
          <a:xfrm rot="14410962">
            <a:off x="10642137" y="-612432"/>
            <a:ext cx="1122491" cy="2287699"/>
          </a:xfrm>
          <a:custGeom>
            <a:avLst/>
            <a:gdLst/>
            <a:ahLst/>
            <a:cxnLst/>
            <a:rect l="l" t="t" r="r" b="b"/>
            <a:pathLst>
              <a:path w="2321767" h="5778152">
                <a:moveTo>
                  <a:pt x="0" y="0"/>
                </a:moveTo>
                <a:lnTo>
                  <a:pt x="2321767" y="0"/>
                </a:lnTo>
                <a:lnTo>
                  <a:pt x="2321767" y="5778152"/>
                </a:lnTo>
                <a:lnTo>
                  <a:pt x="0" y="5778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Nunito Sans Condensed Bold Itali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A59F08-75EE-3C11-B277-E46D998E1903}"/>
              </a:ext>
            </a:extLst>
          </p:cNvPr>
          <p:cNvSpPr txBox="1"/>
          <p:nvPr/>
        </p:nvSpPr>
        <p:spPr>
          <a:xfrm>
            <a:off x="6525793" y="1422145"/>
            <a:ext cx="4606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REPORT TEXT – turned into TF-IDF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7892" y="367660"/>
            <a:ext cx="825500" cy="76906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03535" y="28860"/>
                  </a:moveTo>
                  <a:lnTo>
                    <a:pt x="783940" y="209265"/>
                  </a:lnTo>
                  <a:cubicBezTo>
                    <a:pt x="802419" y="227744"/>
                    <a:pt x="812800" y="252806"/>
                    <a:pt x="812800" y="278940"/>
                  </a:cubicBezTo>
                  <a:lnTo>
                    <a:pt x="812800" y="533860"/>
                  </a:lnTo>
                  <a:cubicBezTo>
                    <a:pt x="812800" y="559994"/>
                    <a:pt x="802419" y="585056"/>
                    <a:pt x="783940" y="603535"/>
                  </a:cubicBezTo>
                  <a:lnTo>
                    <a:pt x="603535" y="783940"/>
                  </a:lnTo>
                  <a:cubicBezTo>
                    <a:pt x="585056" y="802419"/>
                    <a:pt x="559994" y="812800"/>
                    <a:pt x="533860" y="812800"/>
                  </a:cubicBezTo>
                  <a:lnTo>
                    <a:pt x="278940" y="812800"/>
                  </a:lnTo>
                  <a:cubicBezTo>
                    <a:pt x="252806" y="812800"/>
                    <a:pt x="227744" y="802419"/>
                    <a:pt x="209265" y="783940"/>
                  </a:cubicBezTo>
                  <a:lnTo>
                    <a:pt x="28860" y="603535"/>
                  </a:lnTo>
                  <a:cubicBezTo>
                    <a:pt x="10381" y="585056"/>
                    <a:pt x="0" y="559994"/>
                    <a:pt x="0" y="533860"/>
                  </a:cubicBezTo>
                  <a:lnTo>
                    <a:pt x="0" y="278940"/>
                  </a:lnTo>
                  <a:cubicBezTo>
                    <a:pt x="0" y="252806"/>
                    <a:pt x="10381" y="227744"/>
                    <a:pt x="28860" y="209265"/>
                  </a:cubicBezTo>
                  <a:lnTo>
                    <a:pt x="209265" y="28860"/>
                  </a:lnTo>
                  <a:cubicBezTo>
                    <a:pt x="227744" y="10381"/>
                    <a:pt x="252806" y="0"/>
                    <a:pt x="278940" y="0"/>
                  </a:cubicBezTo>
                  <a:lnTo>
                    <a:pt x="533860" y="0"/>
                  </a:lnTo>
                  <a:cubicBezTo>
                    <a:pt x="559994" y="0"/>
                    <a:pt x="585056" y="10381"/>
                    <a:pt x="603535" y="28860"/>
                  </a:cubicBezTo>
                  <a:close/>
                </a:path>
              </a:pathLst>
            </a:custGeom>
            <a:solidFill>
              <a:srgbClr val="B3C89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97441" y="300019"/>
            <a:ext cx="6063667" cy="737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6400"/>
              </a:lnSpc>
              <a:spcBef>
                <a:spcPct val="0"/>
              </a:spcBef>
            </a:pPr>
            <a:r>
              <a:rPr lang="en-US" sz="3600" b="1">
                <a:solidFill>
                  <a:srgbClr val="1E322D"/>
                </a:solidFill>
                <a:latin typeface="Nunito Sans Condensed Bold Italics"/>
                <a:ea typeface="Racing Sans One"/>
                <a:cs typeface="Racing Sans One"/>
                <a:sym typeface="Racing Sans One"/>
              </a:rPr>
              <a:t>What we are trying to predict</a:t>
            </a:r>
          </a:p>
        </p:txBody>
      </p:sp>
      <p:sp>
        <p:nvSpPr>
          <p:cNvPr id="7" name="Freeform 7"/>
          <p:cNvSpPr/>
          <p:nvPr/>
        </p:nvSpPr>
        <p:spPr>
          <a:xfrm>
            <a:off x="9917603" y="0"/>
            <a:ext cx="2274397" cy="1867537"/>
          </a:xfrm>
          <a:custGeom>
            <a:avLst/>
            <a:gdLst/>
            <a:ahLst/>
            <a:cxnLst/>
            <a:rect l="l" t="t" r="r" b="b"/>
            <a:pathLst>
              <a:path w="6582417" h="6558481">
                <a:moveTo>
                  <a:pt x="0" y="0"/>
                </a:moveTo>
                <a:lnTo>
                  <a:pt x="6582417" y="0"/>
                </a:lnTo>
                <a:lnTo>
                  <a:pt x="6582417" y="6558481"/>
                </a:lnTo>
                <a:lnTo>
                  <a:pt x="0" y="655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34122" r="-929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9508546" y="0"/>
            <a:ext cx="2683454" cy="1867537"/>
          </a:xfrm>
          <a:custGeom>
            <a:avLst/>
            <a:gdLst/>
            <a:ahLst/>
            <a:cxnLst/>
            <a:rect l="l" t="t" r="r" b="b"/>
            <a:pathLst>
              <a:path w="5644834" h="4967454">
                <a:moveTo>
                  <a:pt x="0" y="0"/>
                </a:moveTo>
                <a:lnTo>
                  <a:pt x="5644834" y="0"/>
                </a:lnTo>
                <a:lnTo>
                  <a:pt x="5644834" y="4967454"/>
                </a:lnTo>
                <a:lnTo>
                  <a:pt x="0" y="4967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4744" r="-25100" b="-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16137" y="5834877"/>
            <a:ext cx="4388278" cy="1023123"/>
          </a:xfrm>
          <a:custGeom>
            <a:avLst/>
            <a:gdLst/>
            <a:ahLst/>
            <a:cxnLst/>
            <a:rect l="l" t="t" r="r" b="b"/>
            <a:pathLst>
              <a:path w="6582417" h="6558481">
                <a:moveTo>
                  <a:pt x="0" y="0"/>
                </a:moveTo>
                <a:lnTo>
                  <a:pt x="6582417" y="0"/>
                </a:lnTo>
                <a:lnTo>
                  <a:pt x="6582417" y="6558481"/>
                </a:lnTo>
                <a:lnTo>
                  <a:pt x="0" y="655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3273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-628517" y="5385653"/>
            <a:ext cx="3763223" cy="1472347"/>
          </a:xfrm>
          <a:custGeom>
            <a:avLst/>
            <a:gdLst/>
            <a:ahLst/>
            <a:cxnLst/>
            <a:rect l="l" t="t" r="r" b="b"/>
            <a:pathLst>
              <a:path w="5644834" h="4967454">
                <a:moveTo>
                  <a:pt x="5644834" y="0"/>
                </a:moveTo>
                <a:lnTo>
                  <a:pt x="0" y="0"/>
                </a:lnTo>
                <a:lnTo>
                  <a:pt x="0" y="4967454"/>
                </a:lnTo>
                <a:lnTo>
                  <a:pt x="5644834" y="4967454"/>
                </a:lnTo>
                <a:lnTo>
                  <a:pt x="56448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2492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961108" y="5552659"/>
            <a:ext cx="5230892" cy="1305341"/>
          </a:xfrm>
          <a:custGeom>
            <a:avLst/>
            <a:gdLst/>
            <a:ahLst/>
            <a:cxnLst/>
            <a:rect l="l" t="t" r="r" b="b"/>
            <a:pathLst>
              <a:path w="12026598" h="2208521">
                <a:moveTo>
                  <a:pt x="0" y="0"/>
                </a:moveTo>
                <a:lnTo>
                  <a:pt x="12026598" y="0"/>
                </a:lnTo>
                <a:lnTo>
                  <a:pt x="12026598" y="2208521"/>
                </a:lnTo>
                <a:lnTo>
                  <a:pt x="0" y="2208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37867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B9B9919-C647-3DB4-55B3-3A53718CB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018243"/>
              </p:ext>
            </p:extLst>
          </p:nvPr>
        </p:nvGraphicFramePr>
        <p:xfrm>
          <a:off x="316138" y="1160753"/>
          <a:ext cx="5154366" cy="422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9B46761-FB49-FE87-0147-26C45DF4355C}"/>
              </a:ext>
            </a:extLst>
          </p:cNvPr>
          <p:cNvSpPr txBox="1"/>
          <p:nvPr/>
        </p:nvSpPr>
        <p:spPr>
          <a:xfrm>
            <a:off x="6096000" y="1472347"/>
            <a:ext cx="553131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Station operations</a:t>
            </a:r>
          </a:p>
          <a:p>
            <a:r>
              <a:rPr lang="en-US" sz="1600" dirty="0"/>
              <a:t>Cab/car events at stops: doors, platform, overruns</a:t>
            </a:r>
          </a:p>
          <a:p>
            <a:endParaRPr lang="en-US" dirty="0"/>
          </a:p>
          <a:p>
            <a:r>
              <a:rPr lang="en-US" b="1" dirty="0"/>
              <a:t>Speed deviations</a:t>
            </a:r>
          </a:p>
          <a:p>
            <a:r>
              <a:rPr lang="en-US" sz="1600" dirty="0"/>
              <a:t>Exceeding max authorized speed or a temporary restriction</a:t>
            </a:r>
          </a:p>
          <a:p>
            <a:endParaRPr lang="en-US" dirty="0"/>
          </a:p>
          <a:p>
            <a:r>
              <a:rPr lang="en-US" b="1" dirty="0"/>
              <a:t>Braking events</a:t>
            </a:r>
          </a:p>
          <a:p>
            <a:r>
              <a:rPr lang="en-US" sz="1600" dirty="0"/>
              <a:t>Emergency or penalty brake applications</a:t>
            </a:r>
          </a:p>
          <a:p>
            <a:endParaRPr lang="en-US" dirty="0"/>
          </a:p>
          <a:p>
            <a:r>
              <a:rPr lang="en-US" b="1" dirty="0"/>
              <a:t>Mechanical/signal</a:t>
            </a:r>
          </a:p>
          <a:p>
            <a:r>
              <a:rPr lang="en-US" sz="1600" dirty="0"/>
              <a:t>Less-severe equipment faults; on-board control (e.g. PTC) events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8365A1-66E6-B1F4-5802-75150CE57D79}"/>
              </a:ext>
            </a:extLst>
          </p:cNvPr>
          <p:cNvSpPr>
            <a:spLocks/>
          </p:cNvSpPr>
          <p:nvPr/>
        </p:nvSpPr>
        <p:spPr>
          <a:xfrm>
            <a:off x="6096000" y="4810488"/>
            <a:ext cx="5531318" cy="575165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00000"/>
                </a:solidFill>
              </a:rPr>
              <a:t>Multi-label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one report can have several events, so we train one yes/no classifier per category. Unselected </a:t>
            </a:r>
            <a:r>
              <a:rPr lang="en-US" sz="1600" dirty="0">
                <a:solidFill>
                  <a:schemeClr val="tx1"/>
                </a:solidFill>
              </a:rPr>
              <a:t>≠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6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-10800000">
            <a:off x="4202778" y="1712436"/>
            <a:ext cx="3786439" cy="3537087"/>
            <a:chOff x="0" y="0"/>
            <a:chExt cx="1839149" cy="1463725"/>
          </a:xfrm>
        </p:grpSpPr>
        <p:sp>
          <p:nvSpPr>
            <p:cNvPr id="9" name="Freeform 9"/>
            <p:cNvSpPr/>
            <p:nvPr/>
          </p:nvSpPr>
          <p:spPr>
            <a:xfrm>
              <a:off x="4404" y="0"/>
              <a:ext cx="1830342" cy="1463725"/>
            </a:xfrm>
            <a:custGeom>
              <a:avLst/>
              <a:gdLst/>
              <a:ahLst/>
              <a:cxnLst/>
              <a:rect l="l" t="t" r="r" b="b"/>
              <a:pathLst>
                <a:path w="1830342" h="1463725">
                  <a:moveTo>
                    <a:pt x="232873" y="0"/>
                  </a:moveTo>
                  <a:lnTo>
                    <a:pt x="1597468" y="0"/>
                  </a:lnTo>
                  <a:cubicBezTo>
                    <a:pt x="1617002" y="0"/>
                    <a:pt x="1633545" y="14405"/>
                    <a:pt x="1636231" y="33754"/>
                  </a:cubicBezTo>
                  <a:lnTo>
                    <a:pt x="1830059" y="1429971"/>
                  </a:lnTo>
                  <a:cubicBezTo>
                    <a:pt x="1831239" y="1438471"/>
                    <a:pt x="1828682" y="1447066"/>
                    <a:pt x="1823046" y="1453538"/>
                  </a:cubicBezTo>
                  <a:cubicBezTo>
                    <a:pt x="1817411" y="1460010"/>
                    <a:pt x="1809249" y="1463725"/>
                    <a:pt x="1800668" y="1463725"/>
                  </a:cubicBezTo>
                  <a:lnTo>
                    <a:pt x="29673" y="1463725"/>
                  </a:lnTo>
                  <a:cubicBezTo>
                    <a:pt x="21092" y="1463725"/>
                    <a:pt x="12930" y="1460010"/>
                    <a:pt x="7295" y="1453538"/>
                  </a:cubicBezTo>
                  <a:cubicBezTo>
                    <a:pt x="1659" y="1447066"/>
                    <a:pt x="-898" y="1438471"/>
                    <a:pt x="282" y="1429971"/>
                  </a:cubicBezTo>
                  <a:lnTo>
                    <a:pt x="194110" y="33754"/>
                  </a:lnTo>
                  <a:cubicBezTo>
                    <a:pt x="196796" y="14405"/>
                    <a:pt x="213339" y="0"/>
                    <a:pt x="232873" y="0"/>
                  </a:cubicBezTo>
                  <a:close/>
                </a:path>
              </a:pathLst>
            </a:custGeom>
            <a:solidFill>
              <a:srgbClr val="FFFAF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38100"/>
              <a:ext cx="1585149" cy="1501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100812" y="171626"/>
            <a:ext cx="6063667" cy="76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400"/>
              </a:lnSpc>
              <a:spcBef>
                <a:spcPct val="0"/>
              </a:spcBef>
            </a:pPr>
            <a:r>
              <a:rPr lang="en-US" sz="4400">
                <a:solidFill>
                  <a:srgbClr val="FEE7C6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Research Questions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D019161-EC2D-B848-A332-69354E7A5AF4}"/>
              </a:ext>
            </a:extLst>
          </p:cNvPr>
          <p:cNvGrpSpPr/>
          <p:nvPr/>
        </p:nvGrpSpPr>
        <p:grpSpPr>
          <a:xfrm>
            <a:off x="288216" y="1092531"/>
            <a:ext cx="11611935" cy="4156994"/>
            <a:chOff x="288216" y="1886263"/>
            <a:chExt cx="11611935" cy="3519343"/>
          </a:xfrm>
        </p:grpSpPr>
        <p:grpSp>
          <p:nvGrpSpPr>
            <p:cNvPr id="2" name="Group 2"/>
            <p:cNvGrpSpPr/>
            <p:nvPr/>
          </p:nvGrpSpPr>
          <p:grpSpPr>
            <a:xfrm>
              <a:off x="288216" y="2313649"/>
              <a:ext cx="3768307" cy="3091957"/>
              <a:chOff x="4404" y="-38100"/>
              <a:chExt cx="1830342" cy="150182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404" y="0"/>
                <a:ext cx="1830342" cy="1463725"/>
              </a:xfrm>
              <a:custGeom>
                <a:avLst/>
                <a:gdLst/>
                <a:ahLst/>
                <a:cxnLst/>
                <a:rect l="l" t="t" r="r" b="b"/>
                <a:pathLst>
                  <a:path w="1830342" h="1463725">
                    <a:moveTo>
                      <a:pt x="232873" y="0"/>
                    </a:moveTo>
                    <a:lnTo>
                      <a:pt x="1597468" y="0"/>
                    </a:lnTo>
                    <a:cubicBezTo>
                      <a:pt x="1617002" y="0"/>
                      <a:pt x="1633545" y="14405"/>
                      <a:pt x="1636231" y="33754"/>
                    </a:cubicBezTo>
                    <a:lnTo>
                      <a:pt x="1830059" y="1429971"/>
                    </a:lnTo>
                    <a:cubicBezTo>
                      <a:pt x="1831239" y="1438471"/>
                      <a:pt x="1828682" y="1447066"/>
                      <a:pt x="1823046" y="1453538"/>
                    </a:cubicBezTo>
                    <a:cubicBezTo>
                      <a:pt x="1817411" y="1460010"/>
                      <a:pt x="1809249" y="1463725"/>
                      <a:pt x="1800668" y="1463725"/>
                    </a:cubicBezTo>
                    <a:lnTo>
                      <a:pt x="29673" y="1463725"/>
                    </a:lnTo>
                    <a:cubicBezTo>
                      <a:pt x="21092" y="1463725"/>
                      <a:pt x="12930" y="1460010"/>
                      <a:pt x="7295" y="1453538"/>
                    </a:cubicBezTo>
                    <a:cubicBezTo>
                      <a:pt x="1659" y="1447066"/>
                      <a:pt x="-898" y="1438471"/>
                      <a:pt x="282" y="1429971"/>
                    </a:cubicBezTo>
                    <a:lnTo>
                      <a:pt x="194110" y="33754"/>
                    </a:lnTo>
                    <a:cubicBezTo>
                      <a:pt x="196796" y="14405"/>
                      <a:pt x="213339" y="0"/>
                      <a:pt x="232873" y="0"/>
                    </a:cubicBezTo>
                    <a:close/>
                  </a:path>
                </a:pathLst>
              </a:custGeom>
              <a:solidFill>
                <a:srgbClr val="FFFAF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127000" y="-38100"/>
                <a:ext cx="1585149" cy="15018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1666541" y="1886263"/>
              <a:ext cx="1011656" cy="932619"/>
              <a:chOff x="0" y="1"/>
              <a:chExt cx="812800" cy="74929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1"/>
                <a:ext cx="812800" cy="67001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628788" y="54113"/>
                    </a:moveTo>
                    <a:lnTo>
                      <a:pt x="758687" y="184012"/>
                    </a:lnTo>
                    <a:cubicBezTo>
                      <a:pt x="793335" y="218660"/>
                      <a:pt x="812800" y="265653"/>
                      <a:pt x="812800" y="314652"/>
                    </a:cubicBezTo>
                    <a:lnTo>
                      <a:pt x="812800" y="498148"/>
                    </a:lnTo>
                    <a:cubicBezTo>
                      <a:pt x="812800" y="547147"/>
                      <a:pt x="793335" y="594140"/>
                      <a:pt x="758687" y="628788"/>
                    </a:cubicBezTo>
                    <a:lnTo>
                      <a:pt x="628788" y="758687"/>
                    </a:lnTo>
                    <a:cubicBezTo>
                      <a:pt x="594140" y="793335"/>
                      <a:pt x="547147" y="812800"/>
                      <a:pt x="498148" y="812800"/>
                    </a:cubicBezTo>
                    <a:lnTo>
                      <a:pt x="314652" y="812800"/>
                    </a:lnTo>
                    <a:cubicBezTo>
                      <a:pt x="265653" y="812800"/>
                      <a:pt x="218660" y="793335"/>
                      <a:pt x="184012" y="758687"/>
                    </a:cubicBezTo>
                    <a:lnTo>
                      <a:pt x="54113" y="628788"/>
                    </a:lnTo>
                    <a:cubicBezTo>
                      <a:pt x="19465" y="594140"/>
                      <a:pt x="0" y="547147"/>
                      <a:pt x="0" y="498148"/>
                    </a:cubicBezTo>
                    <a:lnTo>
                      <a:pt x="0" y="314652"/>
                    </a:lnTo>
                    <a:cubicBezTo>
                      <a:pt x="0" y="265653"/>
                      <a:pt x="19465" y="218660"/>
                      <a:pt x="54113" y="184012"/>
                    </a:cubicBezTo>
                    <a:lnTo>
                      <a:pt x="184012" y="54113"/>
                    </a:lnTo>
                    <a:cubicBezTo>
                      <a:pt x="218660" y="19465"/>
                      <a:pt x="265653" y="0"/>
                      <a:pt x="314652" y="0"/>
                    </a:cubicBezTo>
                    <a:lnTo>
                      <a:pt x="498148" y="0"/>
                    </a:lnTo>
                    <a:cubicBezTo>
                      <a:pt x="547147" y="0"/>
                      <a:pt x="594140" y="19465"/>
                      <a:pt x="628788" y="54113"/>
                    </a:cubicBezTo>
                    <a:close/>
                  </a:path>
                </a:pathLst>
              </a:custGeom>
              <a:solidFill>
                <a:srgbClr val="D8584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3500" y="25400"/>
                <a:ext cx="685800" cy="7239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669208" y="1917876"/>
              <a:ext cx="853585" cy="90100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113712" y="2392089"/>
              <a:ext cx="3786439" cy="3013516"/>
              <a:chOff x="0" y="0"/>
              <a:chExt cx="1839149" cy="14637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404" y="0"/>
                <a:ext cx="1830342" cy="1463725"/>
              </a:xfrm>
              <a:custGeom>
                <a:avLst/>
                <a:gdLst/>
                <a:ahLst/>
                <a:cxnLst/>
                <a:rect l="l" t="t" r="r" b="b"/>
                <a:pathLst>
                  <a:path w="1830342" h="1463725">
                    <a:moveTo>
                      <a:pt x="232873" y="0"/>
                    </a:moveTo>
                    <a:lnTo>
                      <a:pt x="1597468" y="0"/>
                    </a:lnTo>
                    <a:cubicBezTo>
                      <a:pt x="1617002" y="0"/>
                      <a:pt x="1633545" y="14405"/>
                      <a:pt x="1636231" y="33754"/>
                    </a:cubicBezTo>
                    <a:lnTo>
                      <a:pt x="1830059" y="1429971"/>
                    </a:lnTo>
                    <a:cubicBezTo>
                      <a:pt x="1831239" y="1438471"/>
                      <a:pt x="1828682" y="1447066"/>
                      <a:pt x="1823046" y="1453538"/>
                    </a:cubicBezTo>
                    <a:cubicBezTo>
                      <a:pt x="1817411" y="1460010"/>
                      <a:pt x="1809249" y="1463725"/>
                      <a:pt x="1800668" y="1463725"/>
                    </a:cubicBezTo>
                    <a:lnTo>
                      <a:pt x="29673" y="1463725"/>
                    </a:lnTo>
                    <a:cubicBezTo>
                      <a:pt x="21092" y="1463725"/>
                      <a:pt x="12930" y="1460010"/>
                      <a:pt x="7295" y="1453538"/>
                    </a:cubicBezTo>
                    <a:cubicBezTo>
                      <a:pt x="1659" y="1447066"/>
                      <a:pt x="-898" y="1438471"/>
                      <a:pt x="282" y="1429971"/>
                    </a:cubicBezTo>
                    <a:lnTo>
                      <a:pt x="194110" y="33754"/>
                    </a:lnTo>
                    <a:cubicBezTo>
                      <a:pt x="196796" y="14405"/>
                      <a:pt x="213339" y="0"/>
                      <a:pt x="232873" y="0"/>
                    </a:cubicBezTo>
                    <a:close/>
                  </a:path>
                </a:pathLst>
              </a:custGeom>
              <a:solidFill>
                <a:srgbClr val="FFFAF3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7000" y="-38100"/>
                <a:ext cx="1585149" cy="15018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744754" y="1980285"/>
              <a:ext cx="830855" cy="7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6015"/>
                </a:lnSpc>
                <a:spcBef>
                  <a:spcPct val="0"/>
                </a:spcBef>
              </a:pPr>
              <a:r>
                <a:rPr lang="en-US" sz="6266">
                  <a:solidFill>
                    <a:srgbClr val="FEE7C6"/>
                  </a:solidFill>
                  <a:latin typeface="Racing Sans One"/>
                  <a:ea typeface="Racing Sans One"/>
                  <a:cs typeface="Racing Sans One"/>
                  <a:sym typeface="Racing Sans One"/>
                </a:rPr>
                <a:t>1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E9978EF-2CEA-05E6-677A-FBF336BEA257}"/>
              </a:ext>
            </a:extLst>
          </p:cNvPr>
          <p:cNvGrpSpPr/>
          <p:nvPr/>
        </p:nvGrpSpPr>
        <p:grpSpPr>
          <a:xfrm>
            <a:off x="-32333" y="5835513"/>
            <a:ext cx="12192000" cy="1187102"/>
            <a:chOff x="0" y="5759840"/>
            <a:chExt cx="12192000" cy="1181608"/>
          </a:xfrm>
        </p:grpSpPr>
        <p:sp>
          <p:nvSpPr>
            <p:cNvPr id="20" name="Freeform 20"/>
            <p:cNvSpPr/>
            <p:nvPr/>
          </p:nvSpPr>
          <p:spPr>
            <a:xfrm>
              <a:off x="0" y="5759840"/>
              <a:ext cx="2438400" cy="1181608"/>
            </a:xfrm>
            <a:custGeom>
              <a:avLst/>
              <a:gdLst/>
              <a:ahLst/>
              <a:cxnLst/>
              <a:rect l="l" t="t" r="r" b="b"/>
              <a:pathLst>
                <a:path w="3657600" h="1772412">
                  <a:moveTo>
                    <a:pt x="0" y="0"/>
                  </a:moveTo>
                  <a:lnTo>
                    <a:pt x="3657600" y="0"/>
                  </a:lnTo>
                  <a:lnTo>
                    <a:pt x="3657600" y="1772412"/>
                  </a:lnTo>
                  <a:lnTo>
                    <a:pt x="0" y="177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2438400" y="5759840"/>
              <a:ext cx="2438400" cy="1181608"/>
            </a:xfrm>
            <a:custGeom>
              <a:avLst/>
              <a:gdLst/>
              <a:ahLst/>
              <a:cxnLst/>
              <a:rect l="l" t="t" r="r" b="b"/>
              <a:pathLst>
                <a:path w="3657600" h="1772412">
                  <a:moveTo>
                    <a:pt x="0" y="0"/>
                  </a:moveTo>
                  <a:lnTo>
                    <a:pt x="3657600" y="0"/>
                  </a:lnTo>
                  <a:lnTo>
                    <a:pt x="3657600" y="1772412"/>
                  </a:lnTo>
                  <a:lnTo>
                    <a:pt x="0" y="177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876800" y="5759840"/>
              <a:ext cx="2438400" cy="1181608"/>
            </a:xfrm>
            <a:custGeom>
              <a:avLst/>
              <a:gdLst/>
              <a:ahLst/>
              <a:cxnLst/>
              <a:rect l="l" t="t" r="r" b="b"/>
              <a:pathLst>
                <a:path w="3657600" h="1772412">
                  <a:moveTo>
                    <a:pt x="0" y="0"/>
                  </a:moveTo>
                  <a:lnTo>
                    <a:pt x="3657600" y="0"/>
                  </a:lnTo>
                  <a:lnTo>
                    <a:pt x="3657600" y="1772412"/>
                  </a:lnTo>
                  <a:lnTo>
                    <a:pt x="0" y="177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7315200" y="5759840"/>
              <a:ext cx="2438400" cy="1181608"/>
            </a:xfrm>
            <a:custGeom>
              <a:avLst/>
              <a:gdLst/>
              <a:ahLst/>
              <a:cxnLst/>
              <a:rect l="l" t="t" r="r" b="b"/>
              <a:pathLst>
                <a:path w="3657600" h="1772412">
                  <a:moveTo>
                    <a:pt x="0" y="0"/>
                  </a:moveTo>
                  <a:lnTo>
                    <a:pt x="3657600" y="0"/>
                  </a:lnTo>
                  <a:lnTo>
                    <a:pt x="3657600" y="1772412"/>
                  </a:lnTo>
                  <a:lnTo>
                    <a:pt x="0" y="177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9753600" y="5759840"/>
              <a:ext cx="2438400" cy="1181608"/>
            </a:xfrm>
            <a:custGeom>
              <a:avLst/>
              <a:gdLst/>
              <a:ahLst/>
              <a:cxnLst/>
              <a:rect l="l" t="t" r="r" b="b"/>
              <a:pathLst>
                <a:path w="3657600" h="1772412">
                  <a:moveTo>
                    <a:pt x="0" y="0"/>
                  </a:moveTo>
                  <a:lnTo>
                    <a:pt x="3657600" y="0"/>
                  </a:lnTo>
                  <a:lnTo>
                    <a:pt x="3657600" y="1772412"/>
                  </a:lnTo>
                  <a:lnTo>
                    <a:pt x="0" y="177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7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Freeform 32"/>
          <p:cNvSpPr/>
          <p:nvPr/>
        </p:nvSpPr>
        <p:spPr>
          <a:xfrm>
            <a:off x="9068919" y="-2"/>
            <a:ext cx="3123082" cy="1644819"/>
          </a:xfrm>
          <a:custGeom>
            <a:avLst/>
            <a:gdLst/>
            <a:ahLst/>
            <a:cxnLst/>
            <a:rect l="l" t="t" r="r" b="b"/>
            <a:pathLst>
              <a:path w="5644834" h="4967454">
                <a:moveTo>
                  <a:pt x="0" y="0"/>
                </a:moveTo>
                <a:lnTo>
                  <a:pt x="5644834" y="0"/>
                </a:lnTo>
                <a:lnTo>
                  <a:pt x="5644834" y="4967454"/>
                </a:lnTo>
                <a:lnTo>
                  <a:pt x="0" y="49674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-101336" r="-2049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 flipV="1">
            <a:off x="239859" y="-1"/>
            <a:ext cx="3763223" cy="1368605"/>
          </a:xfrm>
          <a:custGeom>
            <a:avLst/>
            <a:gdLst/>
            <a:ahLst/>
            <a:cxnLst/>
            <a:rect l="l" t="t" r="r" b="b"/>
            <a:pathLst>
              <a:path w="5644834" h="4967454">
                <a:moveTo>
                  <a:pt x="0" y="4967454"/>
                </a:moveTo>
                <a:lnTo>
                  <a:pt x="5644833" y="4967454"/>
                </a:lnTo>
                <a:lnTo>
                  <a:pt x="5644833" y="0"/>
                </a:lnTo>
                <a:lnTo>
                  <a:pt x="0" y="0"/>
                </a:lnTo>
                <a:lnTo>
                  <a:pt x="0" y="496745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4197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D6BF36D7-F478-DD97-DDA9-C7B4E7B94468}"/>
              </a:ext>
            </a:extLst>
          </p:cNvPr>
          <p:cNvSpPr/>
          <p:nvPr/>
        </p:nvSpPr>
        <p:spPr>
          <a:xfrm>
            <a:off x="5590992" y="1092530"/>
            <a:ext cx="1011656" cy="102201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628788" y="54113"/>
                </a:moveTo>
                <a:lnTo>
                  <a:pt x="758687" y="184012"/>
                </a:lnTo>
                <a:cubicBezTo>
                  <a:pt x="793335" y="218660"/>
                  <a:pt x="812800" y="265653"/>
                  <a:pt x="812800" y="314652"/>
                </a:cubicBezTo>
                <a:lnTo>
                  <a:pt x="812800" y="498148"/>
                </a:lnTo>
                <a:cubicBezTo>
                  <a:pt x="812800" y="547147"/>
                  <a:pt x="793335" y="594140"/>
                  <a:pt x="758687" y="628788"/>
                </a:cubicBezTo>
                <a:lnTo>
                  <a:pt x="628788" y="758687"/>
                </a:lnTo>
                <a:cubicBezTo>
                  <a:pt x="594140" y="793335"/>
                  <a:pt x="547147" y="812800"/>
                  <a:pt x="498148" y="812800"/>
                </a:cubicBezTo>
                <a:lnTo>
                  <a:pt x="314652" y="812800"/>
                </a:lnTo>
                <a:cubicBezTo>
                  <a:pt x="265653" y="812800"/>
                  <a:pt x="218660" y="793335"/>
                  <a:pt x="184012" y="758687"/>
                </a:cubicBezTo>
                <a:lnTo>
                  <a:pt x="54113" y="628788"/>
                </a:lnTo>
                <a:cubicBezTo>
                  <a:pt x="19465" y="594140"/>
                  <a:pt x="0" y="547147"/>
                  <a:pt x="0" y="498148"/>
                </a:cubicBezTo>
                <a:lnTo>
                  <a:pt x="0" y="314652"/>
                </a:lnTo>
                <a:cubicBezTo>
                  <a:pt x="0" y="265653"/>
                  <a:pt x="19465" y="218660"/>
                  <a:pt x="54113" y="184012"/>
                </a:cubicBezTo>
                <a:lnTo>
                  <a:pt x="184012" y="54113"/>
                </a:lnTo>
                <a:cubicBezTo>
                  <a:pt x="218660" y="19465"/>
                  <a:pt x="265653" y="0"/>
                  <a:pt x="314652" y="0"/>
                </a:cubicBezTo>
                <a:lnTo>
                  <a:pt x="498148" y="0"/>
                </a:lnTo>
                <a:cubicBezTo>
                  <a:pt x="547147" y="0"/>
                  <a:pt x="594140" y="19465"/>
                  <a:pt x="628788" y="54113"/>
                </a:cubicBezTo>
                <a:close/>
              </a:path>
            </a:pathLst>
          </a:custGeom>
          <a:solidFill>
            <a:srgbClr val="D8584C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0BF29FD3-6E7B-2C6A-F06E-AECCAF92BF21}"/>
              </a:ext>
            </a:extLst>
          </p:cNvPr>
          <p:cNvSpPr txBox="1"/>
          <p:nvPr/>
        </p:nvSpPr>
        <p:spPr>
          <a:xfrm>
            <a:off x="5669208" y="1226794"/>
            <a:ext cx="830855" cy="7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015"/>
              </a:lnSpc>
              <a:spcBef>
                <a:spcPct val="0"/>
              </a:spcBef>
            </a:pPr>
            <a:r>
              <a:rPr lang="en-US" sz="6266">
                <a:solidFill>
                  <a:srgbClr val="FEE7C6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2</a:t>
            </a:r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633068D1-F721-9EF9-23BD-976639BB885D}"/>
              </a:ext>
            </a:extLst>
          </p:cNvPr>
          <p:cNvSpPr/>
          <p:nvPr/>
        </p:nvSpPr>
        <p:spPr>
          <a:xfrm>
            <a:off x="9500284" y="1092531"/>
            <a:ext cx="1011656" cy="102201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628788" y="54113"/>
                </a:moveTo>
                <a:lnTo>
                  <a:pt x="758687" y="184012"/>
                </a:lnTo>
                <a:cubicBezTo>
                  <a:pt x="793335" y="218660"/>
                  <a:pt x="812800" y="265653"/>
                  <a:pt x="812800" y="314652"/>
                </a:cubicBezTo>
                <a:lnTo>
                  <a:pt x="812800" y="498148"/>
                </a:lnTo>
                <a:cubicBezTo>
                  <a:pt x="812800" y="547147"/>
                  <a:pt x="793335" y="594140"/>
                  <a:pt x="758687" y="628788"/>
                </a:cubicBezTo>
                <a:lnTo>
                  <a:pt x="628788" y="758687"/>
                </a:lnTo>
                <a:cubicBezTo>
                  <a:pt x="594140" y="793335"/>
                  <a:pt x="547147" y="812800"/>
                  <a:pt x="498148" y="812800"/>
                </a:cubicBezTo>
                <a:lnTo>
                  <a:pt x="314652" y="812800"/>
                </a:lnTo>
                <a:cubicBezTo>
                  <a:pt x="265653" y="812800"/>
                  <a:pt x="218660" y="793335"/>
                  <a:pt x="184012" y="758687"/>
                </a:cubicBezTo>
                <a:lnTo>
                  <a:pt x="54113" y="628788"/>
                </a:lnTo>
                <a:cubicBezTo>
                  <a:pt x="19465" y="594140"/>
                  <a:pt x="0" y="547147"/>
                  <a:pt x="0" y="498148"/>
                </a:cubicBezTo>
                <a:lnTo>
                  <a:pt x="0" y="314652"/>
                </a:lnTo>
                <a:cubicBezTo>
                  <a:pt x="0" y="265653"/>
                  <a:pt x="19465" y="218660"/>
                  <a:pt x="54113" y="184012"/>
                </a:cubicBezTo>
                <a:lnTo>
                  <a:pt x="184012" y="54113"/>
                </a:lnTo>
                <a:cubicBezTo>
                  <a:pt x="218660" y="19465"/>
                  <a:pt x="265653" y="0"/>
                  <a:pt x="314652" y="0"/>
                </a:cubicBezTo>
                <a:lnTo>
                  <a:pt x="498148" y="0"/>
                </a:lnTo>
                <a:cubicBezTo>
                  <a:pt x="547147" y="0"/>
                  <a:pt x="594140" y="19465"/>
                  <a:pt x="628788" y="54113"/>
                </a:cubicBezTo>
                <a:close/>
              </a:path>
            </a:pathLst>
          </a:custGeom>
          <a:solidFill>
            <a:srgbClr val="D8584C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Box 23">
            <a:extLst>
              <a:ext uri="{FF2B5EF4-FFF2-40B4-BE49-F238E27FC236}">
                <a16:creationId xmlns:a16="http://schemas.microsoft.com/office/drawing/2014/main" id="{FC0B0D14-D719-93AF-C046-A79E0BD2BBE7}"/>
              </a:ext>
            </a:extLst>
          </p:cNvPr>
          <p:cNvSpPr txBox="1"/>
          <p:nvPr/>
        </p:nvSpPr>
        <p:spPr>
          <a:xfrm>
            <a:off x="9615567" y="1226794"/>
            <a:ext cx="830855" cy="7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015"/>
              </a:lnSpc>
              <a:spcBef>
                <a:spcPct val="0"/>
              </a:spcBef>
            </a:pPr>
            <a:r>
              <a:rPr lang="en-US" sz="6266">
                <a:solidFill>
                  <a:srgbClr val="FEE7C6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249996-BD37-B105-F769-37EA03AE63D0}"/>
              </a:ext>
            </a:extLst>
          </p:cNvPr>
          <p:cNvSpPr txBox="1"/>
          <p:nvPr/>
        </p:nvSpPr>
        <p:spPr>
          <a:xfrm>
            <a:off x="784855" y="2140983"/>
            <a:ext cx="30319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To what extent can structured human-factor, environmental, personnel, and operational features classify the six recorded event categories in NASA C3RS reports?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F2672E-E2D5-1956-8802-0AF7603274BE}"/>
              </a:ext>
            </a:extLst>
          </p:cNvPr>
          <p:cNvSpPr txBox="1"/>
          <p:nvPr/>
        </p:nvSpPr>
        <p:spPr>
          <a:xfrm>
            <a:off x="807020" y="3704309"/>
            <a:ext cx="2628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Compare Logistic Regression, Random Forest, &amp; </a:t>
            </a:r>
            <a:r>
              <a:rPr lang="en-US" sz="1600" err="1"/>
              <a:t>XGBoost</a:t>
            </a:r>
            <a:r>
              <a:rPr lang="en-US" sz="1600"/>
              <a:t> on the same structured features, using macro-F1 and mean Average Precision.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EC8C05-D685-2801-3A1D-7C0D62B247A6}"/>
              </a:ext>
            </a:extLst>
          </p:cNvPr>
          <p:cNvSpPr txBox="1"/>
          <p:nvPr/>
        </p:nvSpPr>
        <p:spPr>
          <a:xfrm>
            <a:off x="4600239" y="2151891"/>
            <a:ext cx="32537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Does adding report summaries, narratives, or callbacks improve event-category classification compared with structured features alone?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2B18334-67BA-63D7-84F2-EBD03F32CDDF}"/>
              </a:ext>
            </a:extLst>
          </p:cNvPr>
          <p:cNvSpPr txBox="1"/>
          <p:nvPr/>
        </p:nvSpPr>
        <p:spPr>
          <a:xfrm>
            <a:off x="4781546" y="3466805"/>
            <a:ext cx="2628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Compare structured-only models with models that add TF-IDF of summaries or narratives; on matched reports, compare narratives with and without callbacks.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BD448F-278E-E3C6-B6A7-7D0F1DF459D4}"/>
              </a:ext>
            </a:extLst>
          </p:cNvPr>
          <p:cNvSpPr txBox="1"/>
          <p:nvPr/>
        </p:nvSpPr>
        <p:spPr>
          <a:xfrm>
            <a:off x="8720224" y="2159737"/>
            <a:ext cx="28131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Which structured features are most informative for classifying the six recorded event categories?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0D9023-5AAE-093D-4F5D-0792EA4856E2}"/>
              </a:ext>
            </a:extLst>
          </p:cNvPr>
          <p:cNvSpPr txBox="1"/>
          <p:nvPr/>
        </p:nvSpPr>
        <p:spPr>
          <a:xfrm>
            <a:off x="8640274" y="3371028"/>
            <a:ext cx="2998406" cy="1371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Permutation importance: measure the decrease in Average Precision when individual features or feature groups are shuffled.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65A771-8064-BE2B-AFF4-4629787D63AA}"/>
              </a:ext>
            </a:extLst>
          </p:cNvPr>
          <p:cNvSpPr txBox="1"/>
          <p:nvPr/>
        </p:nvSpPr>
        <p:spPr>
          <a:xfrm>
            <a:off x="288216" y="5365833"/>
            <a:ext cx="1146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Shared setup: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70/15/15 split, duplicate reports kept together • tuned on validation • 6 binary classifiers, one per 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33823" y="-2382974"/>
            <a:ext cx="4388278" cy="4372321"/>
          </a:xfrm>
          <a:custGeom>
            <a:avLst/>
            <a:gdLst/>
            <a:ahLst/>
            <a:cxnLst/>
            <a:rect l="l" t="t" r="r" b="b"/>
            <a:pathLst>
              <a:path w="6582417" h="6558481">
                <a:moveTo>
                  <a:pt x="0" y="0"/>
                </a:moveTo>
                <a:lnTo>
                  <a:pt x="6582417" y="0"/>
                </a:lnTo>
                <a:lnTo>
                  <a:pt x="6582417" y="6558480"/>
                </a:lnTo>
                <a:lnTo>
                  <a:pt x="0" y="6558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455217" y="5352001"/>
            <a:ext cx="4388278" cy="4372321"/>
          </a:xfrm>
          <a:custGeom>
            <a:avLst/>
            <a:gdLst/>
            <a:ahLst/>
            <a:cxnLst/>
            <a:rect l="l" t="t" r="r" b="b"/>
            <a:pathLst>
              <a:path w="6582417" h="6558481">
                <a:moveTo>
                  <a:pt x="0" y="0"/>
                </a:moveTo>
                <a:lnTo>
                  <a:pt x="6582417" y="0"/>
                </a:lnTo>
                <a:lnTo>
                  <a:pt x="6582417" y="6558481"/>
                </a:lnTo>
                <a:lnTo>
                  <a:pt x="0" y="655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85800" y="1941464"/>
            <a:ext cx="4182390" cy="328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2333"/>
              </a:lnSpc>
            </a:pPr>
            <a:r>
              <a:rPr lang="en-US" sz="2000" dirty="0">
                <a:solidFill>
                  <a:srgbClr val="1E322D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Logistic Regression, Random Forest, </a:t>
            </a:r>
            <a:r>
              <a:rPr lang="en-US" sz="2000" dirty="0" err="1">
                <a:solidFill>
                  <a:srgbClr val="1E322D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XGBoost</a:t>
            </a:r>
            <a:r>
              <a:rPr lang="en-US" sz="2000" dirty="0">
                <a:solidFill>
                  <a:srgbClr val="1E322D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 on the same 249 coded fields (1,540 test reports).</a:t>
            </a:r>
          </a:p>
          <a:p>
            <a:pPr defTabSz="609630">
              <a:lnSpc>
                <a:spcPts val="2333"/>
              </a:lnSpc>
            </a:pPr>
            <a:endParaRPr lang="en-US" sz="2000" dirty="0">
              <a:solidFill>
                <a:srgbClr val="1E322D"/>
              </a:solidFill>
              <a:latin typeface="Nunito Sans Condensed"/>
              <a:ea typeface="Nunito Sans Condensed"/>
              <a:cs typeface="Nunito Sans Condensed"/>
              <a:sym typeface="Nunito Sans Condensed"/>
            </a:endParaRPr>
          </a:p>
          <a:p>
            <a:pPr defTabSz="609630">
              <a:lnSpc>
                <a:spcPts val="2333"/>
              </a:lnSpc>
            </a:pPr>
            <a:r>
              <a:rPr lang="en-US" sz="2000" dirty="0">
                <a:latin typeface="Nunito Sans Condensed"/>
                <a:ea typeface="Nunito Sans Condensed"/>
                <a:cs typeface="Nunito Sans Condensed"/>
                <a:sym typeface="Nunito Sans Condensed"/>
              </a:rPr>
              <a:t>Average F1: </a:t>
            </a:r>
          </a:p>
          <a:p>
            <a:pPr defTabSz="609630">
              <a:lnSpc>
                <a:spcPts val="2333"/>
              </a:lnSpc>
            </a:pPr>
            <a:r>
              <a:rPr lang="en-US" sz="2000" dirty="0">
                <a:latin typeface="Nunito Sans Condensed"/>
                <a:ea typeface="Nunito Sans Condensed"/>
                <a:cs typeface="Nunito Sans Condensed"/>
                <a:sym typeface="Nunito Sans Condensed"/>
              </a:rPr>
              <a:t>0.629 </a:t>
            </a:r>
            <a:r>
              <a:rPr lang="en-US" sz="2000" dirty="0"/>
              <a:t>• 0.615 • 627, about the same for all three</a:t>
            </a:r>
          </a:p>
          <a:p>
            <a:pPr defTabSz="609630">
              <a:lnSpc>
                <a:spcPts val="2333"/>
              </a:lnSpc>
            </a:pPr>
            <a:endParaRPr lang="en-US" sz="2000" dirty="0">
              <a:latin typeface="Nunito Sans Condensed"/>
              <a:ea typeface="Nunito Sans Condensed"/>
              <a:cs typeface="Nunito Sans Condensed"/>
              <a:sym typeface="Nunito Sans Condensed"/>
            </a:endParaRPr>
          </a:p>
          <a:p>
            <a:pPr defTabSz="609630">
              <a:lnSpc>
                <a:spcPct val="100000"/>
              </a:lnSpc>
            </a:pPr>
            <a:r>
              <a:rPr lang="en-US" sz="2000" dirty="0">
                <a:latin typeface="Nunito Sans Condensed"/>
                <a:ea typeface="Nunito Sans Condensed"/>
                <a:cs typeface="Nunito Sans Condensed"/>
                <a:sym typeface="Nunito Sans Condensed"/>
              </a:rPr>
              <a:t>Easiest: Station Operations (F1 </a:t>
            </a:r>
            <a:r>
              <a:rPr lang="en-US" sz="2000" dirty="0"/>
              <a:t>≈ 0.89)</a:t>
            </a:r>
          </a:p>
          <a:p>
            <a:pPr defTabSz="609630">
              <a:lnSpc>
                <a:spcPct val="100000"/>
              </a:lnSpc>
            </a:pPr>
            <a:r>
              <a:rPr lang="en-US" sz="2000" dirty="0">
                <a:latin typeface="Nunito Sans Condensed"/>
                <a:ea typeface="Nunito Sans Condensed"/>
                <a:cs typeface="Nunito Sans Condensed"/>
                <a:sym typeface="Nunito Sans Condensed"/>
              </a:rPr>
              <a:t>Hardest: Temporary Speed Restriction (F1 </a:t>
            </a:r>
            <a:r>
              <a:rPr lang="en-US" sz="2000" dirty="0"/>
              <a:t>≈ 0.53).</a:t>
            </a:r>
            <a:endParaRPr lang="en-US" sz="2000" dirty="0">
              <a:latin typeface="Nunito Sans Condensed"/>
              <a:ea typeface="Nunito Sans Condensed"/>
              <a:cs typeface="Nunito Sans Condensed"/>
              <a:sym typeface="Nunito Sans Condensed"/>
            </a:endParaRPr>
          </a:p>
        </p:txBody>
      </p:sp>
      <p:sp>
        <p:nvSpPr>
          <p:cNvPr id="5" name="Freeform 5"/>
          <p:cNvSpPr/>
          <p:nvPr/>
        </p:nvSpPr>
        <p:spPr>
          <a:xfrm flipH="1">
            <a:off x="-808571" y="5385653"/>
            <a:ext cx="8017732" cy="1472347"/>
          </a:xfrm>
          <a:custGeom>
            <a:avLst/>
            <a:gdLst/>
            <a:ahLst/>
            <a:cxnLst/>
            <a:rect l="l" t="t" r="r" b="b"/>
            <a:pathLst>
              <a:path w="12026598" h="2208521">
                <a:moveTo>
                  <a:pt x="12026598" y="0"/>
                </a:moveTo>
                <a:lnTo>
                  <a:pt x="0" y="0"/>
                </a:lnTo>
                <a:lnTo>
                  <a:pt x="0" y="2208521"/>
                </a:lnTo>
                <a:lnTo>
                  <a:pt x="12026598" y="2208521"/>
                </a:lnTo>
                <a:lnTo>
                  <a:pt x="120265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85800" y="785395"/>
            <a:ext cx="1011656" cy="1212021"/>
            <a:chOff x="0" y="-224480"/>
            <a:chExt cx="812800" cy="973780"/>
          </a:xfrm>
        </p:grpSpPr>
        <p:sp>
          <p:nvSpPr>
            <p:cNvPr id="7" name="Freeform 7"/>
            <p:cNvSpPr/>
            <p:nvPr/>
          </p:nvSpPr>
          <p:spPr>
            <a:xfrm>
              <a:off x="0" y="-22448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03535" y="28860"/>
                  </a:moveTo>
                  <a:lnTo>
                    <a:pt x="783940" y="209265"/>
                  </a:lnTo>
                  <a:cubicBezTo>
                    <a:pt x="802419" y="227744"/>
                    <a:pt x="812800" y="252806"/>
                    <a:pt x="812800" y="278940"/>
                  </a:cubicBezTo>
                  <a:lnTo>
                    <a:pt x="812800" y="533860"/>
                  </a:lnTo>
                  <a:cubicBezTo>
                    <a:pt x="812800" y="559994"/>
                    <a:pt x="802419" y="585056"/>
                    <a:pt x="783940" y="603535"/>
                  </a:cubicBezTo>
                  <a:lnTo>
                    <a:pt x="603535" y="783940"/>
                  </a:lnTo>
                  <a:cubicBezTo>
                    <a:pt x="585056" y="802419"/>
                    <a:pt x="559994" y="812800"/>
                    <a:pt x="533860" y="812800"/>
                  </a:cubicBezTo>
                  <a:lnTo>
                    <a:pt x="278940" y="812800"/>
                  </a:lnTo>
                  <a:cubicBezTo>
                    <a:pt x="252806" y="812800"/>
                    <a:pt x="227744" y="802419"/>
                    <a:pt x="209265" y="783940"/>
                  </a:cubicBezTo>
                  <a:lnTo>
                    <a:pt x="28860" y="603535"/>
                  </a:lnTo>
                  <a:cubicBezTo>
                    <a:pt x="10381" y="585056"/>
                    <a:pt x="0" y="559994"/>
                    <a:pt x="0" y="533860"/>
                  </a:cubicBezTo>
                  <a:lnTo>
                    <a:pt x="0" y="278940"/>
                  </a:lnTo>
                  <a:cubicBezTo>
                    <a:pt x="0" y="252806"/>
                    <a:pt x="10381" y="227744"/>
                    <a:pt x="28860" y="209265"/>
                  </a:cubicBezTo>
                  <a:lnTo>
                    <a:pt x="209265" y="28860"/>
                  </a:lnTo>
                  <a:cubicBezTo>
                    <a:pt x="227744" y="10381"/>
                    <a:pt x="252806" y="0"/>
                    <a:pt x="278940" y="0"/>
                  </a:cubicBezTo>
                  <a:lnTo>
                    <a:pt x="533860" y="0"/>
                  </a:lnTo>
                  <a:cubicBezTo>
                    <a:pt x="559994" y="0"/>
                    <a:pt x="585056" y="10381"/>
                    <a:pt x="603535" y="28860"/>
                  </a:cubicBezTo>
                  <a:close/>
                </a:path>
              </a:pathLst>
            </a:custGeom>
            <a:solidFill>
              <a:srgbClr val="B3C89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35120" y="972685"/>
            <a:ext cx="6370268" cy="841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6400"/>
              </a:lnSpc>
              <a:spcBef>
                <a:spcPct val="0"/>
              </a:spcBef>
            </a:pPr>
            <a:r>
              <a:rPr lang="en-US" sz="6666" dirty="0">
                <a:solidFill>
                  <a:srgbClr val="1E322D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RQ1 Results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5E9D87D-1244-296E-D301-7E812A5EF4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0941009"/>
              </p:ext>
            </p:extLst>
          </p:nvPr>
        </p:nvGraphicFramePr>
        <p:xfrm>
          <a:off x="5074078" y="1668572"/>
          <a:ext cx="6829907" cy="36666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C8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488096"/>
            <a:ext cx="10820400" cy="4923369"/>
            <a:chOff x="0" y="0"/>
            <a:chExt cx="2042495" cy="929351"/>
          </a:xfrm>
        </p:grpSpPr>
        <p:sp>
          <p:nvSpPr>
            <p:cNvPr id="3" name="Freeform 3"/>
            <p:cNvSpPr/>
            <p:nvPr/>
          </p:nvSpPr>
          <p:spPr>
            <a:xfrm>
              <a:off x="4709" y="0"/>
              <a:ext cx="2033076" cy="929352"/>
            </a:xfrm>
            <a:custGeom>
              <a:avLst/>
              <a:gdLst/>
              <a:ahLst/>
              <a:cxnLst/>
              <a:rect l="l" t="t" r="r" b="b"/>
              <a:pathLst>
                <a:path w="2033076" h="929352">
                  <a:moveTo>
                    <a:pt x="222639" y="0"/>
                  </a:moveTo>
                  <a:lnTo>
                    <a:pt x="1810438" y="0"/>
                  </a:lnTo>
                  <a:cubicBezTo>
                    <a:pt x="1824537" y="0"/>
                    <a:pt x="1836732" y="9818"/>
                    <a:pt x="1839744" y="23591"/>
                  </a:cubicBezTo>
                  <a:lnTo>
                    <a:pt x="2032628" y="905761"/>
                  </a:lnTo>
                  <a:cubicBezTo>
                    <a:pt x="2033885" y="911510"/>
                    <a:pt x="2032470" y="917518"/>
                    <a:pt x="2028780" y="922102"/>
                  </a:cubicBezTo>
                  <a:cubicBezTo>
                    <a:pt x="2025090" y="926686"/>
                    <a:pt x="2019522" y="929352"/>
                    <a:pt x="2013638" y="929352"/>
                  </a:cubicBezTo>
                  <a:lnTo>
                    <a:pt x="19439" y="929352"/>
                  </a:lnTo>
                  <a:cubicBezTo>
                    <a:pt x="13554" y="929352"/>
                    <a:pt x="7987" y="926686"/>
                    <a:pt x="4297" y="922102"/>
                  </a:cubicBezTo>
                  <a:cubicBezTo>
                    <a:pt x="607" y="917518"/>
                    <a:pt x="-808" y="911510"/>
                    <a:pt x="449" y="905761"/>
                  </a:cubicBezTo>
                  <a:lnTo>
                    <a:pt x="193333" y="23591"/>
                  </a:lnTo>
                  <a:cubicBezTo>
                    <a:pt x="196344" y="9818"/>
                    <a:pt x="208540" y="0"/>
                    <a:pt x="222639" y="0"/>
                  </a:cubicBezTo>
                  <a:close/>
                </a:path>
              </a:pathLst>
            </a:custGeom>
            <a:solidFill>
              <a:srgbClr val="FFFAF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1788495" cy="9674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5759840"/>
            <a:ext cx="2438400" cy="1181608"/>
          </a:xfrm>
          <a:custGeom>
            <a:avLst/>
            <a:gdLst/>
            <a:ahLst/>
            <a:cxnLst/>
            <a:rect l="l" t="t" r="r" b="b"/>
            <a:pathLst>
              <a:path w="3657600" h="1772412">
                <a:moveTo>
                  <a:pt x="0" y="0"/>
                </a:moveTo>
                <a:lnTo>
                  <a:pt x="3657600" y="0"/>
                </a:lnTo>
                <a:lnTo>
                  <a:pt x="3657600" y="1772412"/>
                </a:lnTo>
                <a:lnTo>
                  <a:pt x="0" y="17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438400" y="5759840"/>
            <a:ext cx="2438400" cy="1181608"/>
          </a:xfrm>
          <a:custGeom>
            <a:avLst/>
            <a:gdLst/>
            <a:ahLst/>
            <a:cxnLst/>
            <a:rect l="l" t="t" r="r" b="b"/>
            <a:pathLst>
              <a:path w="3657600" h="1772412">
                <a:moveTo>
                  <a:pt x="0" y="0"/>
                </a:moveTo>
                <a:lnTo>
                  <a:pt x="3657600" y="0"/>
                </a:lnTo>
                <a:lnTo>
                  <a:pt x="3657600" y="1772412"/>
                </a:lnTo>
                <a:lnTo>
                  <a:pt x="0" y="17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876800" y="5759840"/>
            <a:ext cx="2438400" cy="1181608"/>
          </a:xfrm>
          <a:custGeom>
            <a:avLst/>
            <a:gdLst/>
            <a:ahLst/>
            <a:cxnLst/>
            <a:rect l="l" t="t" r="r" b="b"/>
            <a:pathLst>
              <a:path w="3657600" h="1772412">
                <a:moveTo>
                  <a:pt x="0" y="0"/>
                </a:moveTo>
                <a:lnTo>
                  <a:pt x="3657600" y="0"/>
                </a:lnTo>
                <a:lnTo>
                  <a:pt x="3657600" y="1772412"/>
                </a:lnTo>
                <a:lnTo>
                  <a:pt x="0" y="17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315200" y="5759840"/>
            <a:ext cx="2438400" cy="1181608"/>
          </a:xfrm>
          <a:custGeom>
            <a:avLst/>
            <a:gdLst/>
            <a:ahLst/>
            <a:cxnLst/>
            <a:rect l="l" t="t" r="r" b="b"/>
            <a:pathLst>
              <a:path w="3657600" h="1772412">
                <a:moveTo>
                  <a:pt x="0" y="0"/>
                </a:moveTo>
                <a:lnTo>
                  <a:pt x="3657600" y="0"/>
                </a:lnTo>
                <a:lnTo>
                  <a:pt x="3657600" y="1772412"/>
                </a:lnTo>
                <a:lnTo>
                  <a:pt x="0" y="17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753600" y="5759840"/>
            <a:ext cx="2438400" cy="1181608"/>
          </a:xfrm>
          <a:custGeom>
            <a:avLst/>
            <a:gdLst/>
            <a:ahLst/>
            <a:cxnLst/>
            <a:rect l="l" t="t" r="r" b="b"/>
            <a:pathLst>
              <a:path w="3657600" h="1772412">
                <a:moveTo>
                  <a:pt x="0" y="0"/>
                </a:moveTo>
                <a:lnTo>
                  <a:pt x="3657600" y="0"/>
                </a:lnTo>
                <a:lnTo>
                  <a:pt x="3657600" y="1772412"/>
                </a:lnTo>
                <a:lnTo>
                  <a:pt x="0" y="1772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00031" y="2668264"/>
            <a:ext cx="1531205" cy="2743200"/>
          </a:xfrm>
          <a:custGeom>
            <a:avLst/>
            <a:gdLst/>
            <a:ahLst/>
            <a:cxnLst/>
            <a:rect l="l" t="t" r="r" b="b"/>
            <a:pathLst>
              <a:path w="2296807" h="4114800">
                <a:moveTo>
                  <a:pt x="0" y="0"/>
                </a:moveTo>
                <a:lnTo>
                  <a:pt x="2296807" y="0"/>
                </a:lnTo>
                <a:lnTo>
                  <a:pt x="22968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048980" y="2404517"/>
            <a:ext cx="8094040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803" lvl="1" indent="-251901" defTabSz="609630">
              <a:lnSpc>
                <a:spcPts val="2333"/>
              </a:lnSpc>
              <a:buFont typeface="Arial"/>
              <a:buChar char="•"/>
            </a:pPr>
            <a:r>
              <a:rPr lang="en-US" sz="2333" dirty="0">
                <a:solidFill>
                  <a:srgbClr val="1E322D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Completed: Data exploration, cleaned features, one shared 70/15/15 split model, RQ1 model comparison.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64167" y="1124284"/>
            <a:ext cx="6063667" cy="84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6400"/>
              </a:lnSpc>
              <a:spcBef>
                <a:spcPct val="0"/>
              </a:spcBef>
            </a:pPr>
            <a:r>
              <a:rPr lang="en-US" sz="6666" dirty="0">
                <a:solidFill>
                  <a:srgbClr val="1E322D"/>
                </a:solidFill>
                <a:latin typeface="Racing Sans One"/>
                <a:ea typeface="Racing Sans One"/>
                <a:cs typeface="Racing Sans One"/>
                <a:sym typeface="Racing Sans One"/>
              </a:rPr>
              <a:t>Progress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48980" y="3537067"/>
            <a:ext cx="8094040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803" lvl="1" indent="-251901" defTabSz="609630">
              <a:lnSpc>
                <a:spcPts val="2333"/>
              </a:lnSpc>
              <a:buFont typeface="Arial"/>
              <a:buChar char="•"/>
            </a:pPr>
            <a:r>
              <a:rPr lang="en-US" sz="2333" dirty="0">
                <a:solidFill>
                  <a:srgbClr val="1E322D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Next: RQ2 (Add report text), RQ3 (feature importance), and our neural network on all six event types.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460765" y="2668264"/>
            <a:ext cx="1531205" cy="2743200"/>
          </a:xfrm>
          <a:custGeom>
            <a:avLst/>
            <a:gdLst/>
            <a:ahLst/>
            <a:cxnLst/>
            <a:rect l="l" t="t" r="r" b="b"/>
            <a:pathLst>
              <a:path w="2296807" h="4114800">
                <a:moveTo>
                  <a:pt x="2296807" y="0"/>
                </a:moveTo>
                <a:lnTo>
                  <a:pt x="0" y="0"/>
                </a:lnTo>
                <a:lnTo>
                  <a:pt x="0" y="4114800"/>
                </a:lnTo>
                <a:lnTo>
                  <a:pt x="2296807" y="4114800"/>
                </a:lnTo>
                <a:lnTo>
                  <a:pt x="229680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465</Words>
  <Application>Microsoft Office PowerPoint</Application>
  <PresentationFormat>Widescreen</PresentationFormat>
  <Paragraphs>66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Nunito Sans Condensed</vt:lpstr>
      <vt:lpstr>Nunito Sans Condensed Bold Italics</vt:lpstr>
      <vt:lpstr>Racing Sans One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Garza</dc:creator>
  <cp:lastModifiedBy>Andrea Garza</cp:lastModifiedBy>
  <cp:revision>2</cp:revision>
  <dcterms:created xsi:type="dcterms:W3CDTF">2026-10-20T17:30:05Z</dcterms:created>
  <dcterms:modified xsi:type="dcterms:W3CDTF">2026-10-22T22:59:50Z</dcterms:modified>
</cp:coreProperties>
</file>